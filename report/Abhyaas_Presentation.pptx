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mini_Generated_Image_cs64sacs64sacs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0"/>
            <a:ext cx="12573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80960" y="0"/>
            <a:ext cx="4572000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2011680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241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F3F6FC"/>
                </a:solidFill>
                <a:latin typeface="Segoe UI"/>
              </a:rPr>
              <a:t>Abhyaas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None/>
            </a:pPr>
            <a:r>
              <a:rPr sz="3000" b="1">
                <a:solidFill>
                  <a:srgbClr val="60A5FA"/>
                </a:solidFill>
                <a:latin typeface="Segoe UI"/>
              </a:rPr>
              <a:t>AI Placement Practice Simulator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AFBED8"/>
                </a:solidFill>
                <a:latin typeface="Segoe UI"/>
              </a:rPr>
              <a:t>Realistic AI-driven practice for campus placement panel interviews &amp; group discussions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F3F6FC"/>
                </a:solidFill>
                <a:latin typeface="Segoe UI"/>
              </a:rPr>
              <a:t>Capstone Project  |  LDRP-ITR  —  Information Technology Department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AFBED8"/>
                </a:solidFill>
                <a:latin typeface="Segoe UI"/>
              </a:rPr>
              <a:t>Author: [Student Name]   |   Guide: 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60A5FA"/>
                </a:solidFill>
                <a:latin typeface="Segoe UI"/>
              </a:rPr>
              <a:t>PROBLEM &amp; MOTIVATION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F3F6FC"/>
                </a:solidFill>
                <a:latin typeface="Segoe UI"/>
              </a:rPr>
              <a:t>The two rounds students can't rehearse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AFBED8"/>
                </a:solidFill>
                <a:latin typeface="Segoe UI"/>
              </a:rPr>
              <a:t>Panel interviews and group discussions decide most placement offers — yet they are the hardest rounds to practise, because each one needs several people in the room.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5176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32850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788920"/>
            <a:ext cx="45720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>
                <a:solidFill>
                  <a:srgbClr val="60A5FA"/>
                </a:solidFill>
                <a:latin typeface="Segoe UI"/>
              </a:rPr>
              <a:t>Practice can't scale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3F6FC"/>
                </a:solidFill>
                <a:latin typeface="Segoe UI"/>
              </a:rPr>
              <a:t>Faculty hours are finite, so individual mock panels are rare and handed out unevenly across a batch.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65176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32850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788920"/>
            <a:ext cx="45720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700" b="1">
                <a:solidFill>
                  <a:srgbClr val="60A5FA"/>
                </a:solidFill>
                <a:latin typeface="Segoe UI"/>
              </a:rPr>
              <a:t>Decisive rounds are multi-person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F3F6FC"/>
                </a:solidFill>
                <a:latin typeface="Segoe UI"/>
              </a:rPr>
              <a:t>A panel needs a panel and a discussion needs a group — a student alone the night before a drive has neither.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343400"/>
            <a:ext cx="10424160" cy="1965960"/>
          </a:xfrm>
          <a:prstGeom prst="roundRect">
            <a:avLst>
              <a:gd name="adj" fmla="val 5000"/>
            </a:avLst>
          </a:prstGeom>
          <a:solidFill>
            <a:srgbClr val="132850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26280"/>
            <a:ext cx="9784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700" b="1">
                <a:solidFill>
                  <a:srgbClr val="60A5FA"/>
                </a:solidFill>
                <a:latin typeface="Segoe UI"/>
              </a:rPr>
              <a:t>Why existing AI tools fall short</a:t>
            </a:r>
          </a:p>
          <a:p>
            <a:pPr algn="l" indent="-237744" marL="237744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F3F6FC"/>
                </a:solidFill>
                <a:latin typeface="Segoe UI"/>
              </a:rPr>
              <a:t>Single-player by design (Yoodli, Google Interview Warmup, Final Round AI) — they can't stage a panel or a discussion.</a:t>
            </a:r>
          </a:p>
          <a:p>
            <a:pPr algn="l" indent="-237744" marL="237744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F3F6FC"/>
                </a:solidFill>
                <a:latin typeface="Segoe UI"/>
              </a:rPr>
              <a:t>No memory — disconnected questions, none of the follow-up pressure where a real interview turns uncomfortable.</a:t>
            </a:r>
          </a:p>
          <a:p>
            <a:pPr algn="l" indent="-237744" marL="237744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F3F6FC"/>
                </a:solidFill>
                <a:latin typeface="Segoe UI"/>
              </a:rPr>
              <a:t>A pure-LLM system has no reliable sense of turn, stage or score, so behaviour drifts and can't be audited.</a:t>
            </a:r>
          </a:p>
          <a:p>
            <a:pPr algn="l" indent="-237744" marL="237744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400" b="0">
                <a:solidFill>
                  <a:srgbClr val="F3F6FC"/>
                </a:solidFill>
                <a:latin typeface="Segoe UI"/>
              </a:rPr>
              <a:t>Feedback is a vague impression, not a per-competency read a student can act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60A5FA"/>
                </a:solidFill>
                <a:latin typeface="Segoe UI"/>
              </a:rPr>
              <a:t>THE SOLUTION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F3F6FC"/>
                </a:solidFill>
                <a:latin typeface="Segoe UI"/>
              </a:rPr>
              <a:t>Two real rounds, on demand —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37744" marL="237744">
              <a:spcAft>
                <a:spcPts val="900"/>
              </a:spcAft>
              <a:buFont typeface="Arial"/>
              <a:buChar char="•"/>
            </a:pPr>
            <a:r>
              <a:rPr sz="1500" b="1">
                <a:solidFill>
                  <a:srgbClr val="60A5FA"/>
                </a:solidFill>
                <a:latin typeface="Segoe UI"/>
              </a:rPr>
              <a:t>Panel Interview mode  </a:t>
            </a:r>
            <a:r>
              <a:rPr sz="1350" b="0">
                <a:solidFill>
                  <a:srgbClr val="F3F6FC"/>
                </a:solidFill>
                <a:latin typeface="Segoe UI"/>
              </a:rPr>
              <a:t>— Rotating panel of three AI personas — HR Manager, Technical Lead, Senior Manager.</a:t>
            </a:r>
          </a:p>
          <a:p>
            <a:pPr algn="l" indent="-237744" marL="237744">
              <a:spcAft>
                <a:spcPts val="900"/>
              </a:spcAft>
              <a:buFont typeface="Arial"/>
              <a:buChar char="•"/>
            </a:pPr>
            <a:r>
              <a:rPr sz="1500" b="1">
                <a:solidFill>
                  <a:srgbClr val="60A5FA"/>
                </a:solidFill>
                <a:latin typeface="Segoe UI"/>
              </a:rPr>
              <a:t>Group Discussion mode  </a:t>
            </a:r>
            <a:r>
              <a:rPr sz="1350" b="0">
                <a:solidFill>
                  <a:srgbClr val="F3F6FC"/>
                </a:solidFill>
                <a:latin typeface="Segoe UI"/>
              </a:rPr>
              <a:t>— Participants argue a topic under an AI moderator that keeps it fair and scores each person.</a:t>
            </a:r>
          </a:p>
          <a:p>
            <a:pPr algn="l" indent="-237744" marL="237744">
              <a:spcAft>
                <a:spcPts val="900"/>
              </a:spcAft>
              <a:buFont typeface="Arial"/>
              <a:buChar char="•"/>
            </a:pPr>
            <a:r>
              <a:rPr sz="1500" b="1">
                <a:solidFill>
                  <a:srgbClr val="60A5FA"/>
                </a:solidFill>
                <a:latin typeface="Segoe UI"/>
              </a:rPr>
              <a:t>Memory-aware follow-ups  </a:t>
            </a:r>
            <a:r>
              <a:rPr sz="1350" b="0">
                <a:solidFill>
                  <a:srgbClr val="F3F6FC"/>
                </a:solidFill>
                <a:latin typeface="Segoe UI"/>
              </a:rPr>
              <a:t>— Each persona remembers earlier answers and probes them for real interview pressure.</a:t>
            </a:r>
          </a:p>
          <a:p>
            <a:pPr algn="l" indent="-237744" marL="237744">
              <a:spcAft>
                <a:spcPts val="900"/>
              </a:spcAft>
              <a:buFont typeface="Arial"/>
              <a:buChar char="•"/>
            </a:pPr>
            <a:r>
              <a:rPr sz="1500" b="1">
                <a:solidFill>
                  <a:srgbClr val="60A5FA"/>
                </a:solidFill>
                <a:latin typeface="Segoe UI"/>
              </a:rPr>
              <a:t>Escalating difficulty  </a:t>
            </a:r>
            <a:r>
              <a:rPr sz="1350" b="0">
                <a:solidFill>
                  <a:srgbClr val="F3F6FC"/>
                </a:solidFill>
                <a:latin typeface="Segoe UI"/>
              </a:rPr>
              <a:t>— Questions get harder as the session goes on, just like the real thing.</a:t>
            </a:r>
          </a:p>
          <a:p>
            <a:pPr algn="l" indent="-237744" marL="237744">
              <a:spcAft>
                <a:spcPts val="900"/>
              </a:spcAft>
              <a:buFont typeface="Arial"/>
              <a:buChar char="•"/>
            </a:pPr>
            <a:r>
              <a:rPr sz="1500" b="1">
                <a:solidFill>
                  <a:srgbClr val="60A5FA"/>
                </a:solidFill>
                <a:latin typeface="Segoe UI"/>
              </a:rPr>
              <a:t>Scored feedback reports  </a:t>
            </a:r>
            <a:r>
              <a:rPr sz="1350" b="0">
                <a:solidFill>
                  <a:srgbClr val="F3F6FC"/>
                </a:solidFill>
                <a:latin typeface="Segoe UI"/>
              </a:rPr>
              <a:t>— Per-competency scores (1–5) with justifications + objective engine-computed metrics.</a:t>
            </a:r>
          </a:p>
          <a:p>
            <a:pPr algn="l" indent="-237744" marL="237744">
              <a:spcAft>
                <a:spcPts val="900"/>
              </a:spcAft>
              <a:buFont typeface="Arial"/>
              <a:buChar char="•"/>
            </a:pPr>
            <a:r>
              <a:rPr sz="1500" b="1">
                <a:solidFill>
                  <a:srgbClr val="60A5FA"/>
                </a:solidFill>
                <a:latin typeface="Segoe UI"/>
              </a:rPr>
              <a:t>Real-time multiplayer  </a:t>
            </a:r>
            <a:r>
              <a:rPr sz="1350" b="0">
                <a:solidFill>
                  <a:srgbClr val="F3F6FC"/>
                </a:solidFill>
                <a:latin typeface="Segoe UI"/>
              </a:rPr>
              <a:t>— Live for everyone connected via Convex reactive queries — no separate socket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783080"/>
            <a:ext cx="4937760" cy="4206240"/>
          </a:xfrm>
          <a:prstGeom prst="roundRect">
            <a:avLst>
              <a:gd name="adj" fmla="val 5000"/>
            </a:avLst>
          </a:prstGeom>
          <a:solidFill>
            <a:srgbClr val="132850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68855"/>
            <a:ext cx="4663440" cy="2914650"/>
          </a:xfrm>
          <a:prstGeom prst="rect">
            <a:avLst/>
          </a:prstGeom>
          <a:ln w="12700">
            <a:solidFill>
              <a:srgbClr val="3B82F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629400" y="5577840"/>
            <a:ext cx="4937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AFBED8"/>
                </a:solidFill>
                <a:latin typeface="Segoe UI"/>
              </a:rPr>
              <a:t>Dashboard — session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60A5FA"/>
                </a:solidFill>
                <a:latin typeface="Segoe UI"/>
              </a:rPr>
              <a:t>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F3F6FC"/>
                </a:solidFill>
                <a:latin typeface="Segoe UI"/>
              </a:rPr>
              <a:t>Engine owns state — the LLM only writes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AFBED8"/>
                </a:solidFill>
                <a:latin typeface="Segoe UI"/>
              </a:rPr>
              <a:t>A deterministic session engine owns all canonical state and flow (turns, stages, difficulty, scoring). The LLM is confined to writing questions, prompts and feedback prose — it never mutates canonical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514600"/>
            <a:ext cx="3063240" cy="1234440"/>
          </a:xfrm>
          <a:prstGeom prst="roundRect">
            <a:avLst/>
          </a:prstGeom>
          <a:solidFill>
            <a:srgbClr val="132850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F3F6FC"/>
                </a:solidFill>
                <a:latin typeface="Segoe UI"/>
              </a:rPr>
              <a:t>Frontend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>
                <a:solidFill>
                  <a:srgbClr val="F3F6FC"/>
                </a:solidFill>
                <a:latin typeface="Segoe UI"/>
              </a:rPr>
              <a:t>Next.js (App Router) + TypeScript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>
                <a:solidFill>
                  <a:srgbClr val="F3F6FC"/>
                </a:solidFill>
                <a:latin typeface="Segoe UI"/>
              </a:rPr>
              <a:t>Tailwind CSS · reactive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62856" y="2514600"/>
            <a:ext cx="3063240" cy="1234440"/>
          </a:xfrm>
          <a:prstGeom prst="roundRect">
            <a:avLst/>
          </a:prstGeom>
          <a:solidFill>
            <a:srgbClr val="1E3A6E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F3F6FC"/>
                </a:solidFill>
                <a:latin typeface="Segoe UI"/>
              </a:rPr>
              <a:t>Session Engine (Convex)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>
                <a:solidFill>
                  <a:srgbClr val="F3F6FC"/>
                </a:solidFill>
                <a:latin typeface="Segoe UI"/>
              </a:rPr>
              <a:t>Deterministic: turns, stages,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>
                <a:solidFill>
                  <a:srgbClr val="F3F6FC"/>
                </a:solidFill>
                <a:latin typeface="Segoe UI"/>
              </a:rPr>
              <a:t>difficulty, scoring, wrap-up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7031" y="2514600"/>
            <a:ext cx="3063240" cy="1234440"/>
          </a:xfrm>
          <a:prstGeom prst="roundRect">
            <a:avLst/>
          </a:prstGeom>
          <a:solidFill>
            <a:srgbClr val="132850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F3F6FC"/>
                </a:solidFill>
                <a:latin typeface="Segoe UI"/>
              </a:rPr>
              <a:t>LLM — writes prose only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>
                <a:solidFill>
                  <a:srgbClr val="F3F6FC"/>
                </a:solidFill>
                <a:latin typeface="Segoe UI"/>
              </a:rPr>
              <a:t>Gemini (Groq / NVIDIA fallback)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50" b="0">
                <a:solidFill>
                  <a:srgbClr val="F3F6FC"/>
                </a:solidFill>
                <a:latin typeface="Segoe UI"/>
              </a:rPr>
              <a:t>questions · prompts · feedback</a:t>
            </a:r>
          </a:p>
        </p:txBody>
      </p:sp>
      <p:sp>
        <p:nvSpPr>
          <p:cNvPr id="9" name="Left-Right Arrow 8"/>
          <p:cNvSpPr/>
          <p:nvPr/>
        </p:nvSpPr>
        <p:spPr>
          <a:xfrm>
            <a:off x="3931920" y="2971800"/>
            <a:ext cx="630936" cy="320040"/>
          </a:xfrm>
          <a:prstGeom prst="leftRightArrow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ft-Right Arrow 9"/>
          <p:cNvSpPr/>
          <p:nvPr/>
        </p:nvSpPr>
        <p:spPr>
          <a:xfrm>
            <a:off x="7626096" y="2971800"/>
            <a:ext cx="630935" cy="320040"/>
          </a:xfrm>
          <a:prstGeom prst="leftRightArrow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8536" y="3858768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60A5FA"/>
                </a:solidFill>
                <a:latin typeface="Segoe UI"/>
              </a:rPr>
              <a:t>Owns canonical state — the LLM never touches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526280"/>
            <a:ext cx="5760720" cy="1874519"/>
          </a:xfrm>
          <a:prstGeom prst="roundRect">
            <a:avLst>
              <a:gd name="adj" fmla="val 5000"/>
            </a:avLst>
          </a:prstGeom>
          <a:solidFill>
            <a:srgbClr val="132850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690872"/>
            <a:ext cx="5303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60A5FA"/>
                </a:solidFill>
                <a:latin typeface="Segoe UI"/>
              </a:rPr>
              <a:t>Stack</a:t>
            </a:r>
          </a:p>
          <a:p>
            <a:pPr algn="l" indent="-237744" marL="237744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sz="1300" b="0">
                <a:solidFill>
                  <a:srgbClr val="F3F6FC"/>
                </a:solidFill>
                <a:latin typeface="Segoe UI"/>
              </a:rPr>
              <a:t>Frontend: Next.js (App Router), TypeScript, Tailwind CSS</a:t>
            </a:r>
          </a:p>
          <a:p>
            <a:pPr algn="l" indent="-237744" marL="237744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sz="1300" b="0">
                <a:solidFill>
                  <a:srgbClr val="F3F6FC"/>
                </a:solidFill>
                <a:latin typeface="Segoe UI"/>
              </a:rPr>
              <a:t>Backend: Convex — schema, queries, mutations, actions, scheduling</a:t>
            </a:r>
          </a:p>
          <a:p>
            <a:pPr algn="l" indent="-237744" marL="237744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sz="1300" b="0">
                <a:solidFill>
                  <a:srgbClr val="F3F6FC"/>
                </a:solidFill>
                <a:latin typeface="Segoe UI"/>
              </a:rPr>
              <a:t>Auth: @convex-dev/auth (email + password)</a:t>
            </a:r>
          </a:p>
          <a:p>
            <a:pPr algn="l" indent="-237744" marL="237744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sz="1300" b="0">
                <a:solidFill>
                  <a:srgbClr val="F3F6FC"/>
                </a:solidFill>
                <a:latin typeface="Segoe UI"/>
              </a:rPr>
              <a:t>AI: Google Gemini with Groq / NVIDIA fallbacks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4526280"/>
            <a:ext cx="4754880" cy="1874519"/>
          </a:xfrm>
          <a:prstGeom prst="roundRect">
            <a:avLst>
              <a:gd name="adj" fmla="val 5000"/>
            </a:avLst>
          </a:prstGeom>
          <a:solidFill>
            <a:srgbClr val="132850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shot_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374" y="4663440"/>
            <a:ext cx="2252692" cy="1417319"/>
          </a:xfrm>
          <a:prstGeom prst="rect">
            <a:avLst/>
          </a:prstGeom>
          <a:ln w="12700">
            <a:solidFill>
              <a:srgbClr val="3B82F6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812280" y="6053327"/>
            <a:ext cx="4754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AFBED8"/>
                </a:solidFill>
                <a:latin typeface="Segoe UI"/>
              </a:rPr>
              <a:t>Live panel interview session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60A5FA"/>
                </a:solidFill>
                <a:latin typeface="Segoe UI"/>
              </a:rPr>
              <a:t>RESULTS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F3F6FC"/>
                </a:solidFill>
                <a:latin typeface="Segoe UI"/>
              </a:rPr>
              <a:t>Objective, rubric-scored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1500" b="0">
                <a:solidFill>
                  <a:srgbClr val="AFBED8"/>
                </a:solidFill>
                <a:latin typeface="Segoe UI"/>
              </a:rPr>
              <a:t>At session end each candidate gets a report a plain chatbot cannot produce:</a:t>
            </a:r>
          </a:p>
          <a:p>
            <a:pPr algn="l" indent="-237744" marL="237744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450" b="0">
                <a:solidFill>
                  <a:srgbClr val="F3F6FC"/>
                </a:solidFill>
                <a:latin typeface="Segoe UI"/>
              </a:rPr>
              <a:t>Per-competency scores (1–5) each with a written justification</a:t>
            </a:r>
          </a:p>
          <a:p>
            <a:pPr algn="l" indent="-237744" marL="237744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450" b="0">
                <a:solidFill>
                  <a:srgbClr val="F3F6FC"/>
                </a:solidFill>
                <a:latin typeface="Segoe UI"/>
              </a:rPr>
              <a:t>Highlighted strengths and concrete areas to improve</a:t>
            </a:r>
          </a:p>
          <a:p>
            <a:pPr algn="l" indent="-237744" marL="237744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450" b="0">
                <a:solidFill>
                  <a:srgbClr val="F3F6FC"/>
                </a:solidFill>
                <a:latin typeface="Segoe UI"/>
              </a:rPr>
              <a:t>Overall score (0–100) and a narrative summary</a:t>
            </a:r>
          </a:p>
          <a:p>
            <a:pPr algn="l">
              <a:spcBef>
                <a:spcPts val="80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60A5FA"/>
                </a:solidFill>
                <a:latin typeface="Segoe UI"/>
              </a:rPr>
              <a:t>Objective engine-computed metrics</a:t>
            </a:r>
          </a:p>
          <a:p>
            <a:pPr algn="l" indent="-237744" marL="237744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50" b="0">
                <a:solidFill>
                  <a:srgbClr val="F3F6FC"/>
                </a:solidFill>
                <a:latin typeface="Segoe UI"/>
              </a:rPr>
              <a:t>Questions answered</a:t>
            </a:r>
          </a:p>
          <a:p>
            <a:pPr algn="l" indent="-237744" marL="237744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50" b="0">
                <a:solidFill>
                  <a:srgbClr val="F3F6FC"/>
                </a:solidFill>
                <a:latin typeface="Segoe UI"/>
              </a:rPr>
              <a:t>Competencies covered / total</a:t>
            </a:r>
          </a:p>
          <a:p>
            <a:pPr algn="l" indent="-237744" marL="237744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50" b="0">
                <a:solidFill>
                  <a:srgbClr val="F3F6FC"/>
                </a:solidFill>
                <a:latin typeface="Segoe UI"/>
              </a:rPr>
              <a:t>Average answer length (words)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737360"/>
            <a:ext cx="4937760" cy="4480560"/>
          </a:xfrm>
          <a:prstGeom prst="roundRect">
            <a:avLst>
              <a:gd name="adj" fmla="val 5000"/>
            </a:avLst>
          </a:prstGeom>
          <a:solidFill>
            <a:srgbClr val="132850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14753"/>
            <a:ext cx="4663440" cy="3251454"/>
          </a:xfrm>
          <a:prstGeom prst="rect">
            <a:avLst/>
          </a:prstGeom>
          <a:ln w="12700">
            <a:solidFill>
              <a:srgbClr val="3B82F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629400" y="5833872"/>
            <a:ext cx="4937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AFBED8"/>
                </a:solidFill>
                <a:latin typeface="Segoe UI"/>
              </a:rPr>
              <a:t>Scored feedback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60A5FA"/>
                </a:solidFill>
                <a:latin typeface="Segoe UI"/>
              </a:rPr>
              <a:t>CONCLUSION &amp; FUTURE WORK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F3F6FC"/>
                </a:solidFill>
                <a:latin typeface="Segoe UI"/>
              </a:rPr>
              <a:t>What we built, and 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5120640" cy="4480560"/>
          </a:xfrm>
          <a:prstGeom prst="roundRect">
            <a:avLst>
              <a:gd name="adj" fmla="val 5000"/>
            </a:avLst>
          </a:prstGeom>
          <a:solidFill>
            <a:srgbClr val="132850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5720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700" b="1">
                <a:solidFill>
                  <a:srgbClr val="60A5FA"/>
                </a:solidFill>
                <a:latin typeface="Segoe UI"/>
              </a:rPr>
              <a:t>Summary</a:t>
            </a:r>
          </a:p>
          <a:p>
            <a:pPr algn="l" indent="-237744" marL="237744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F3F6FC"/>
                </a:solidFill>
                <a:latin typeface="Segoe UI"/>
              </a:rPr>
              <a:t>The two hardest rounds to rehearse — panel interview &amp; group discussion — simulated realistically.</a:t>
            </a:r>
          </a:p>
          <a:p>
            <a:pPr algn="l" indent="-237744" marL="237744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F3F6FC"/>
                </a:solidFill>
                <a:latin typeface="Segoe UI"/>
              </a:rPr>
              <a:t>A deterministic engine paired with an LLM kept to prose keeps sessions consistent and auditable.</a:t>
            </a:r>
          </a:p>
          <a:p>
            <a:pPr algn="l" indent="-237744" marL="237744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F3F6FC"/>
                </a:solidFill>
                <a:latin typeface="Segoe UI"/>
              </a:rPr>
              <a:t>Multi-person practice, interviewers that remember, optional résumé grounding, live for all.</a:t>
            </a:r>
          </a:p>
          <a:p>
            <a:pPr algn="l" indent="-237744" marL="237744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F3F6FC"/>
                </a:solidFill>
                <a:latin typeface="Segoe UI"/>
              </a:rPr>
              <a:t>Objective, per-competency feedback plus hard metrics — evidence, not just a transcript.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120640" cy="4480560"/>
          </a:xfrm>
          <a:prstGeom prst="roundRect">
            <a:avLst>
              <a:gd name="adj" fmla="val 5000"/>
            </a:avLst>
          </a:prstGeom>
          <a:solidFill>
            <a:srgbClr val="132850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5720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700" b="1">
                <a:solidFill>
                  <a:srgbClr val="60A5FA"/>
                </a:solidFill>
                <a:latin typeface="Segoe UI"/>
              </a:rPr>
              <a:t>Future Work</a:t>
            </a:r>
          </a:p>
          <a:p>
            <a:pPr algn="l" indent="-237744" marL="237744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400" b="0">
                <a:solidFill>
                  <a:srgbClr val="F3F6FC"/>
                </a:solidFill>
                <a:latin typeface="Segoe UI"/>
              </a:rPr>
              <a:t>Voice &amp; video analysis to judge delivery and body language</a:t>
            </a:r>
          </a:p>
          <a:p>
            <a:pPr algn="l" indent="-237744" marL="237744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400" b="0">
                <a:solidFill>
                  <a:srgbClr val="F3F6FC"/>
                </a:solidFill>
                <a:latin typeface="Segoe UI"/>
              </a:rPr>
              <a:t>Richer analytics and a cohort-readiness dashboard for the placement cell</a:t>
            </a:r>
          </a:p>
          <a:p>
            <a:pPr algn="l" indent="-237744" marL="237744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400" b="0">
                <a:solidFill>
                  <a:srgbClr val="F3F6FC"/>
                </a:solidFill>
                <a:latin typeface="Segoe UI"/>
              </a:rPr>
              <a:t>More interview domains and target roles</a:t>
            </a:r>
          </a:p>
          <a:p>
            <a:pPr algn="l" indent="-237744" marL="237744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400" b="0">
                <a:solidFill>
                  <a:srgbClr val="F3F6FC"/>
                </a:solidFill>
                <a:latin typeface="Segoe UI"/>
              </a:rPr>
              <a:t>Mobile experience</a:t>
            </a:r>
          </a:p>
          <a:p>
            <a:pPr algn="l" indent="-237744" marL="237744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400" b="0">
                <a:solidFill>
                  <a:srgbClr val="F3F6FC"/>
                </a:solidFill>
                <a:latin typeface="Segoe UI"/>
              </a:rPr>
              <a:t>A larger before-and-after study to quantify improvement over repeated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